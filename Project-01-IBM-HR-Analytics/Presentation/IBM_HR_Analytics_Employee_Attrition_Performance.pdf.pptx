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Canva Sans" panose="020B0604020202020204" charset="0"/>
      <p:regular r:id="rId27"/>
    </p:embeddedFont>
    <p:embeddedFont>
      <p:font typeface="Mardoto" panose="020B0604020202020204" charset="0"/>
      <p:regular r:id="rId28"/>
    </p:embeddedFont>
    <p:embeddedFont>
      <p:font typeface="Mardoto Bold" panose="020B0604020202020204" charset="0"/>
      <p:regular r:id="rId29"/>
    </p:embeddedFont>
    <p:embeddedFont>
      <p:font typeface="Poppins" panose="00000500000000000000" pitchFamily="2" charset="0"/>
      <p:regular r:id="rId30"/>
    </p:embeddedFont>
    <p:embeddedFont>
      <p:font typeface="Poppins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md-avesh-9bb519378?utm_source=share_via&amp;utm_content=profile&amp;utm_medium=member_android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hyperlink" Target="https://github.com/md-aves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037455"/>
            <a:ext cx="7226823" cy="863446"/>
            <a:chOff x="0" y="0"/>
            <a:chExt cx="1903361" cy="227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3361" cy="227410"/>
            </a:xfrm>
            <a:custGeom>
              <a:avLst/>
              <a:gdLst/>
              <a:ahLst/>
              <a:cxnLst/>
              <a:rect l="l" t="t" r="r" b="b"/>
              <a:pathLst>
                <a:path w="1903361" h="227410">
                  <a:moveTo>
                    <a:pt x="0" y="0"/>
                  </a:moveTo>
                  <a:lnTo>
                    <a:pt x="1903361" y="0"/>
                  </a:lnTo>
                  <a:lnTo>
                    <a:pt x="1903361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03361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0060" y="5020538"/>
            <a:ext cx="8434758" cy="7248620"/>
            <a:chOff x="0" y="0"/>
            <a:chExt cx="812800" cy="698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2100E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300" y="-9525"/>
              <a:ext cx="5842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0060" y="-211165"/>
            <a:ext cx="8434758" cy="7248620"/>
            <a:chOff x="0" y="0"/>
            <a:chExt cx="812800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5000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00" y="-9525"/>
              <a:ext cx="5842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44868" y="-211165"/>
            <a:ext cx="8434758" cy="7248620"/>
            <a:chOff x="0" y="0"/>
            <a:chExt cx="812800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2100E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" y="-9525"/>
              <a:ext cx="5842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44868" y="-3809276"/>
            <a:ext cx="8434758" cy="7248620"/>
            <a:chOff x="0" y="0"/>
            <a:chExt cx="812800" cy="698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2100E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4300" y="-9525"/>
              <a:ext cx="5842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307272" y="-3624310"/>
            <a:ext cx="8434758" cy="7248620"/>
            <a:chOff x="0" y="0"/>
            <a:chExt cx="812800" cy="698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5000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4300" y="-9525"/>
              <a:ext cx="5842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801756" y="5020538"/>
            <a:ext cx="8434758" cy="7248620"/>
            <a:chOff x="0" y="0"/>
            <a:chExt cx="812800" cy="698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5000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300" y="-9525"/>
              <a:ext cx="5842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1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722717" y="2632169"/>
            <a:ext cx="8019313" cy="6891597"/>
            <a:chOff x="0" y="0"/>
            <a:chExt cx="812800" cy="6985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2100E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4300" y="-9525"/>
              <a:ext cx="5842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1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771701" y="763235"/>
            <a:ext cx="10116086" cy="8760531"/>
            <a:chOff x="0" y="0"/>
            <a:chExt cx="6350000" cy="54991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4762500" y="0"/>
                  </a:moveTo>
                  <a:lnTo>
                    <a:pt x="1587500" y="0"/>
                  </a:lnTo>
                  <a:lnTo>
                    <a:pt x="0" y="2749550"/>
                  </a:lnTo>
                  <a:lnTo>
                    <a:pt x="1587500" y="5499100"/>
                  </a:lnTo>
                  <a:lnTo>
                    <a:pt x="4762500" y="5499100"/>
                  </a:lnTo>
                  <a:lnTo>
                    <a:pt x="6350000" y="2749550"/>
                  </a:lnTo>
                  <a:close/>
                </a:path>
              </a:pathLst>
            </a:custGeom>
            <a:blipFill>
              <a:blip r:embed="rId2"/>
              <a:stretch>
                <a:fillRect l="-21948" r="-21948"/>
              </a:stretch>
            </a:blipFill>
            <a:ln w="1047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751423" y="4205062"/>
            <a:ext cx="4267711" cy="3695838"/>
            <a:chOff x="0" y="0"/>
            <a:chExt cx="6350000" cy="54991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4762500" y="0"/>
                  </a:moveTo>
                  <a:lnTo>
                    <a:pt x="1587500" y="0"/>
                  </a:lnTo>
                  <a:lnTo>
                    <a:pt x="0" y="2749550"/>
                  </a:lnTo>
                  <a:lnTo>
                    <a:pt x="1587500" y="5499100"/>
                  </a:lnTo>
                  <a:lnTo>
                    <a:pt x="4762500" y="5499100"/>
                  </a:lnTo>
                  <a:lnTo>
                    <a:pt x="6350000" y="2749550"/>
                  </a:lnTo>
                  <a:close/>
                </a:path>
              </a:pathLst>
            </a:custGeom>
            <a:blipFill>
              <a:blip r:embed="rId3"/>
              <a:stretch>
                <a:fillRect l="-14891" r="-14891"/>
              </a:stretch>
            </a:blipFill>
            <a:ln w="1047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Freeform 30"/>
          <p:cNvSpPr/>
          <p:nvPr/>
        </p:nvSpPr>
        <p:spPr>
          <a:xfrm>
            <a:off x="0" y="679146"/>
            <a:ext cx="2139431" cy="1414673"/>
          </a:xfrm>
          <a:custGeom>
            <a:avLst/>
            <a:gdLst/>
            <a:ahLst/>
            <a:cxnLst/>
            <a:rect l="l" t="t" r="r" b="b"/>
            <a:pathLst>
              <a:path w="2139431" h="1414673">
                <a:moveTo>
                  <a:pt x="0" y="0"/>
                </a:moveTo>
                <a:lnTo>
                  <a:pt x="2139431" y="0"/>
                </a:lnTo>
                <a:lnTo>
                  <a:pt x="2139431" y="1414673"/>
                </a:lnTo>
                <a:lnTo>
                  <a:pt x="0" y="14146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TextBox 31"/>
          <p:cNvSpPr txBox="1"/>
          <p:nvPr/>
        </p:nvSpPr>
        <p:spPr>
          <a:xfrm>
            <a:off x="1028700" y="3395205"/>
            <a:ext cx="7773056" cy="2349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37"/>
              </a:lnSpc>
            </a:pPr>
            <a:r>
              <a:rPr lang="en-US" sz="13669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Analytics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5837452"/>
            <a:ext cx="7366048" cy="1265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891" b="1">
                <a:solidFill>
                  <a:srgbClr val="222222"/>
                </a:solidFill>
                <a:latin typeface="Mardoto Bold"/>
                <a:ea typeface="Mardoto Bold"/>
                <a:cs typeface="Mardoto Bold"/>
                <a:sym typeface="Mardoto Bold"/>
              </a:rPr>
              <a:t>Employee Attrition &amp; Performance Analysis</a:t>
            </a:r>
          </a:p>
          <a:p>
            <a:pPr algn="l">
              <a:lnSpc>
                <a:spcPts val="3296"/>
              </a:lnSpc>
            </a:pPr>
            <a:endParaRPr lang="en-US" sz="2891" b="1">
              <a:solidFill>
                <a:srgbClr val="222222"/>
              </a:solidFill>
              <a:latin typeface="Mardoto Bold"/>
              <a:ea typeface="Mardoto Bold"/>
              <a:cs typeface="Mardoto Bold"/>
              <a:sym typeface="Mardoto Bold"/>
            </a:endParaRPr>
          </a:p>
          <a:p>
            <a:pPr algn="l">
              <a:lnSpc>
                <a:spcPts val="3296"/>
              </a:lnSpc>
            </a:pPr>
            <a:endParaRPr lang="en-US" sz="2891" b="1">
              <a:solidFill>
                <a:srgbClr val="222222"/>
              </a:solidFill>
              <a:latin typeface="Mardoto Bold"/>
              <a:ea typeface="Mardoto Bold"/>
              <a:cs typeface="Mardoto Bold"/>
              <a:sym typeface="Mardoto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28700" y="8434589"/>
            <a:ext cx="2474348" cy="43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891" b="1">
                <a:solidFill>
                  <a:srgbClr val="1800AD"/>
                </a:solidFill>
                <a:latin typeface="Mardoto Bold"/>
                <a:ea typeface="Mardoto Bold"/>
                <a:cs typeface="Mardoto Bold"/>
                <a:sym typeface="Mardoto Bold"/>
              </a:rPr>
              <a:t>Md Avesh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8700" y="8940831"/>
            <a:ext cx="4308720" cy="317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062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mdavesh.analytics@gmail.com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95036" y="7220482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Executive HR Analytics Dashboard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58526" y="1085850"/>
            <a:ext cx="3618846" cy="65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2675">
                <a:solidFill>
                  <a:srgbClr val="222222"/>
                </a:solidFill>
                <a:latin typeface="Mardoto"/>
                <a:ea typeface="Mardoto"/>
                <a:cs typeface="Mardoto"/>
                <a:sym typeface="Mardoto"/>
              </a:rPr>
              <a:t>International Business Machines Corporation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8700" y="1992204"/>
            <a:ext cx="7773056" cy="2349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37"/>
              </a:lnSpc>
            </a:pPr>
            <a:r>
              <a:rPr lang="en-US" sz="13669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0942" y="1705886"/>
            <a:ext cx="3974787" cy="863446"/>
            <a:chOff x="0" y="0"/>
            <a:chExt cx="1046857" cy="227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6858" cy="227410"/>
            </a:xfrm>
            <a:custGeom>
              <a:avLst/>
              <a:gdLst/>
              <a:ahLst/>
              <a:cxnLst/>
              <a:rect l="l" t="t" r="r" b="b"/>
              <a:pathLst>
                <a:path w="1046858" h="227410">
                  <a:moveTo>
                    <a:pt x="0" y="0"/>
                  </a:moveTo>
                  <a:lnTo>
                    <a:pt x="1046858" y="0"/>
                  </a:lnTo>
                  <a:lnTo>
                    <a:pt x="1046858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6857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0942" y="2845557"/>
            <a:ext cx="17558137" cy="197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230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The IBM HR Analytics Dashboard was developed using Microsoft Excel to transform raw HR data into actionable business insights.</a:t>
            </a:r>
          </a:p>
          <a:p>
            <a:pPr algn="l">
              <a:lnSpc>
                <a:spcPts val="2629"/>
              </a:lnSpc>
            </a:pPr>
            <a:endParaRPr lang="en-US" sz="2306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29"/>
              </a:lnSpc>
            </a:pPr>
            <a:r>
              <a:rPr lang="en-US" sz="230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This interactive dashboard enables HR teams and business leaders to monitor workforce performance, analyze employee attrition, evaluate salary trends, and support data-driven decision-making through dynamic KPIs, Pivot Tables, Pivot Charts, Power Query, and Slicers.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483982" y="1888913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Project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-190500"/>
            <a:ext cx="11048555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Executive Summary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78480" y="5423831"/>
            <a:ext cx="3974787" cy="863446"/>
            <a:chOff x="0" y="0"/>
            <a:chExt cx="1046857" cy="2274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6858" cy="227410"/>
            </a:xfrm>
            <a:custGeom>
              <a:avLst/>
              <a:gdLst/>
              <a:ahLst/>
              <a:cxnLst/>
              <a:rect l="l" t="t" r="r" b="b"/>
              <a:pathLst>
                <a:path w="1046858" h="227410">
                  <a:moveTo>
                    <a:pt x="0" y="0"/>
                  </a:moveTo>
                  <a:lnTo>
                    <a:pt x="1046858" y="0"/>
                  </a:lnTo>
                  <a:lnTo>
                    <a:pt x="1046858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46857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-1531520" y="5606858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Project Snapshot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8480" y="6553977"/>
            <a:ext cx="15603259" cy="3215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20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Type:</a:t>
            </a:r>
            <a:r>
              <a:rPr lang="en-US" sz="20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 HR Analytics Dashboard</a:t>
            </a:r>
          </a:p>
          <a:p>
            <a:pPr algn="l">
              <a:lnSpc>
                <a:spcPts val="2336"/>
              </a:lnSpc>
            </a:pPr>
            <a:endParaRPr lang="en-US" sz="20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36"/>
              </a:lnSpc>
            </a:pPr>
            <a:r>
              <a:rPr lang="en-US" sz="20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Industry: </a:t>
            </a:r>
            <a:r>
              <a:rPr lang="en-US" sz="20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Human Resources</a:t>
            </a:r>
          </a:p>
          <a:p>
            <a:pPr algn="l">
              <a:lnSpc>
                <a:spcPts val="2336"/>
              </a:lnSpc>
            </a:pPr>
            <a:endParaRPr lang="en-US" sz="20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36"/>
              </a:lnSpc>
            </a:pPr>
            <a:r>
              <a:rPr lang="en-US" sz="20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Tool: </a:t>
            </a:r>
            <a:r>
              <a:rPr lang="en-US" sz="20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Microsoft Excel</a:t>
            </a:r>
          </a:p>
          <a:p>
            <a:pPr algn="l">
              <a:lnSpc>
                <a:spcPts val="2336"/>
              </a:lnSpc>
            </a:pPr>
            <a:endParaRPr lang="en-US" sz="20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36"/>
              </a:lnSpc>
            </a:pPr>
            <a:r>
              <a:rPr lang="en-US" sz="20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Dataset:</a:t>
            </a:r>
            <a:r>
              <a:rPr lang="en-US" sz="20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 IBM HR Analytics</a:t>
            </a:r>
          </a:p>
          <a:p>
            <a:pPr algn="l">
              <a:lnSpc>
                <a:spcPts val="2336"/>
              </a:lnSpc>
            </a:pPr>
            <a:endParaRPr lang="en-US" sz="20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36"/>
              </a:lnSpc>
            </a:pPr>
            <a:r>
              <a:rPr lang="en-US" sz="20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Records:</a:t>
            </a:r>
            <a:r>
              <a:rPr lang="en-US" sz="20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 1,470 Employees</a:t>
            </a:r>
          </a:p>
          <a:p>
            <a:pPr algn="l">
              <a:lnSpc>
                <a:spcPts val="2336"/>
              </a:lnSpc>
            </a:pPr>
            <a:endParaRPr lang="en-US" sz="20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36"/>
              </a:lnSpc>
            </a:pPr>
            <a:r>
              <a:rPr lang="en-US" sz="20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Type: </a:t>
            </a:r>
            <a:r>
              <a:rPr lang="en-US" sz="20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Interactive Executive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0942" y="400647"/>
            <a:ext cx="3001389" cy="863446"/>
            <a:chOff x="0" y="0"/>
            <a:chExt cx="790489" cy="227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0489" cy="227410"/>
            </a:xfrm>
            <a:custGeom>
              <a:avLst/>
              <a:gdLst/>
              <a:ahLst/>
              <a:cxnLst/>
              <a:rect l="l" t="t" r="r" b="b"/>
              <a:pathLst>
                <a:path w="790489" h="227410">
                  <a:moveTo>
                    <a:pt x="0" y="0"/>
                  </a:moveTo>
                  <a:lnTo>
                    <a:pt x="790489" y="0"/>
                  </a:lnTo>
                  <a:lnTo>
                    <a:pt x="790489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90489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0942" y="1619161"/>
            <a:ext cx="18646112" cy="3922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4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KPIs</a:t>
            </a:r>
          </a:p>
          <a:p>
            <a:pPr algn="l">
              <a:lnSpc>
                <a:spcPts val="2792"/>
              </a:lnSpc>
            </a:pPr>
            <a:endParaRPr lang="en-US" sz="2449" b="1">
              <a:solidFill>
                <a:srgbClr val="22222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792"/>
              </a:lnSpc>
            </a:pPr>
            <a:r>
              <a:rPr lang="en-US" sz="24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Dynamic Slicers</a:t>
            </a:r>
          </a:p>
          <a:p>
            <a:pPr algn="l">
              <a:lnSpc>
                <a:spcPts val="2792"/>
              </a:lnSpc>
            </a:pPr>
            <a:endParaRPr lang="en-US" sz="2449" b="1">
              <a:solidFill>
                <a:srgbClr val="22222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792"/>
              </a:lnSpc>
            </a:pPr>
            <a:r>
              <a:rPr lang="en-US" sz="24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Pivot Charts</a:t>
            </a:r>
          </a:p>
          <a:p>
            <a:pPr algn="l">
              <a:lnSpc>
                <a:spcPts val="2792"/>
              </a:lnSpc>
            </a:pPr>
            <a:endParaRPr lang="en-US" sz="2449" b="1">
              <a:solidFill>
                <a:srgbClr val="22222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792"/>
              </a:lnSpc>
            </a:pPr>
            <a:r>
              <a:rPr lang="en-US" sz="24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Power Query</a:t>
            </a:r>
          </a:p>
          <a:p>
            <a:pPr algn="l">
              <a:lnSpc>
                <a:spcPts val="2792"/>
              </a:lnSpc>
            </a:pPr>
            <a:endParaRPr lang="en-US" sz="2449" b="1">
              <a:solidFill>
                <a:srgbClr val="22222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792"/>
              </a:lnSpc>
            </a:pPr>
            <a:r>
              <a:rPr lang="en-US" sz="24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Executive Dashboard</a:t>
            </a:r>
          </a:p>
          <a:p>
            <a:pPr algn="l">
              <a:lnSpc>
                <a:spcPts val="2792"/>
              </a:lnSpc>
            </a:pPr>
            <a:endParaRPr lang="en-US" sz="2449" b="1">
              <a:solidFill>
                <a:srgbClr val="22222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792"/>
              </a:lnSpc>
            </a:pPr>
            <a:r>
              <a:rPr lang="en-US" sz="24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Insights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2018219" y="583674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Key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5801" y="5289762"/>
            <a:ext cx="4328750" cy="863446"/>
            <a:chOff x="0" y="0"/>
            <a:chExt cx="1140082" cy="227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0082" cy="227410"/>
            </a:xfrm>
            <a:custGeom>
              <a:avLst/>
              <a:gdLst/>
              <a:ahLst/>
              <a:cxnLst/>
              <a:rect l="l" t="t" r="r" b="b"/>
              <a:pathLst>
                <a:path w="1140082" h="227410">
                  <a:moveTo>
                    <a:pt x="0" y="0"/>
                  </a:moveTo>
                  <a:lnTo>
                    <a:pt x="1140082" y="0"/>
                  </a:lnTo>
                  <a:lnTo>
                    <a:pt x="1140082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40082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0942" y="1586592"/>
            <a:ext cx="17558137" cy="263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230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Organizations often struggle to understand why employees leave, which departments experience higher attrition, and how factors such as salary, overtime, job satisfaction, and experience influence workforce stability.</a:t>
            </a:r>
          </a:p>
          <a:p>
            <a:pPr algn="l">
              <a:lnSpc>
                <a:spcPts val="2629"/>
              </a:lnSpc>
            </a:pPr>
            <a:endParaRPr lang="en-US" sz="2306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29"/>
              </a:lnSpc>
            </a:pPr>
            <a:r>
              <a:rPr lang="en-US" sz="230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Traditional HR reports are static and time-consuming, making it difficult for decision-makers to identify trends quickly and take proactive actions.</a:t>
            </a:r>
          </a:p>
          <a:p>
            <a:pPr algn="l">
              <a:lnSpc>
                <a:spcPts val="2629"/>
              </a:lnSpc>
            </a:pPr>
            <a:endParaRPr lang="en-US" sz="2306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29"/>
              </a:lnSpc>
            </a:pPr>
            <a:r>
              <a:rPr lang="en-US" sz="230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An interactive HR Analytics Dashboard helps transform employee data into meaningful insights, enabling faster, data-driven workforce decisions.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236554" y="5472789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Business Challenges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-190500"/>
            <a:ext cx="11048555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Business 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5801" y="6305608"/>
            <a:ext cx="17558137" cy="3612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230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🔴High Employee Attrition</a:t>
            </a:r>
          </a:p>
          <a:p>
            <a:pPr algn="l">
              <a:lnSpc>
                <a:spcPts val="2629"/>
              </a:lnSpc>
            </a:pPr>
            <a:endParaRPr lang="en-US" sz="2306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29"/>
              </a:lnSpc>
            </a:pPr>
            <a:r>
              <a:rPr lang="en-US" sz="230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🔴Manual Reporting</a:t>
            </a:r>
          </a:p>
          <a:p>
            <a:pPr algn="l">
              <a:lnSpc>
                <a:spcPts val="2629"/>
              </a:lnSpc>
            </a:pPr>
            <a:endParaRPr lang="en-US" sz="2306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29"/>
              </a:lnSpc>
            </a:pPr>
            <a:r>
              <a:rPr lang="en-US" sz="230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🔴Poor Workforce Visibility</a:t>
            </a:r>
          </a:p>
          <a:p>
            <a:pPr algn="l">
              <a:lnSpc>
                <a:spcPts val="2629"/>
              </a:lnSpc>
            </a:pPr>
            <a:endParaRPr lang="en-US" sz="2306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29"/>
              </a:lnSpc>
            </a:pPr>
            <a:r>
              <a:rPr lang="en-US" sz="230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🔴Time-Consuming Analysis</a:t>
            </a:r>
          </a:p>
          <a:p>
            <a:pPr algn="l">
              <a:lnSpc>
                <a:spcPts val="2629"/>
              </a:lnSpc>
            </a:pPr>
            <a:endParaRPr lang="en-US" sz="2306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29"/>
              </a:lnSpc>
            </a:pPr>
            <a:r>
              <a:rPr lang="en-US" sz="230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🔴Limited Decision Support</a:t>
            </a:r>
          </a:p>
          <a:p>
            <a:pPr algn="l">
              <a:lnSpc>
                <a:spcPts val="2629"/>
              </a:lnSpc>
            </a:pPr>
            <a:endParaRPr lang="en-US" sz="2306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29"/>
              </a:lnSpc>
            </a:pPr>
            <a:r>
              <a:rPr lang="en-US" sz="230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🔴Lack of Interactive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0942" y="400647"/>
            <a:ext cx="3554456" cy="863446"/>
            <a:chOff x="0" y="0"/>
            <a:chExt cx="936153" cy="227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6153" cy="227410"/>
            </a:xfrm>
            <a:custGeom>
              <a:avLst/>
              <a:gdLst/>
              <a:ahLst/>
              <a:cxnLst/>
              <a:rect l="l" t="t" r="r" b="b"/>
              <a:pathLst>
                <a:path w="936153" h="227410">
                  <a:moveTo>
                    <a:pt x="0" y="0"/>
                  </a:moveTo>
                  <a:lnTo>
                    <a:pt x="936153" y="0"/>
                  </a:lnTo>
                  <a:lnTo>
                    <a:pt x="936153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36153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0942" y="1619161"/>
            <a:ext cx="18646112" cy="249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4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🟢Faster HR Reporting</a:t>
            </a:r>
          </a:p>
          <a:p>
            <a:pPr algn="l">
              <a:lnSpc>
                <a:spcPts val="2792"/>
              </a:lnSpc>
            </a:pPr>
            <a:endParaRPr lang="en-US" sz="2449" b="1">
              <a:solidFill>
                <a:srgbClr val="22222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792"/>
              </a:lnSpc>
            </a:pPr>
            <a:r>
              <a:rPr lang="en-US" sz="24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🟢</a:t>
            </a:r>
            <a:r>
              <a:rPr lang="en-US" sz="24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Better Employee Retention</a:t>
            </a:r>
          </a:p>
          <a:p>
            <a:pPr algn="l">
              <a:lnSpc>
                <a:spcPts val="2792"/>
              </a:lnSpc>
            </a:pPr>
            <a:endParaRPr lang="en-US" sz="2449" b="1">
              <a:solidFill>
                <a:srgbClr val="22222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792"/>
              </a:lnSpc>
            </a:pPr>
            <a:r>
              <a:rPr lang="en-US" sz="24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🟢Improved Workforce Planning</a:t>
            </a:r>
          </a:p>
          <a:p>
            <a:pPr algn="l">
              <a:lnSpc>
                <a:spcPts val="2792"/>
              </a:lnSpc>
            </a:pPr>
            <a:endParaRPr lang="en-US" sz="2449" b="1">
              <a:solidFill>
                <a:srgbClr val="22222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792"/>
              </a:lnSpc>
            </a:pPr>
            <a:r>
              <a:rPr lang="en-US" sz="24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🟢</a:t>
            </a:r>
            <a:r>
              <a:rPr lang="en-US" sz="244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Smarter Business Decisions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741685" y="583674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Business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0942" y="3018376"/>
            <a:ext cx="3244738" cy="863446"/>
            <a:chOff x="0" y="0"/>
            <a:chExt cx="854581" cy="227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4581" cy="227410"/>
            </a:xfrm>
            <a:custGeom>
              <a:avLst/>
              <a:gdLst/>
              <a:ahLst/>
              <a:cxnLst/>
              <a:rect l="l" t="t" r="r" b="b"/>
              <a:pathLst>
                <a:path w="854581" h="227410">
                  <a:moveTo>
                    <a:pt x="0" y="0"/>
                  </a:moveTo>
                  <a:lnTo>
                    <a:pt x="854581" y="0"/>
                  </a:lnTo>
                  <a:lnTo>
                    <a:pt x="854581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54581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0942" y="1622135"/>
            <a:ext cx="18322180" cy="1050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The primary objective of this project is to develop an interactive HR Analytics Dashboard that enables organizations to monitor workforce performance, understand employee attrition patterns, and support strategic HR decision-making through data-driven insights.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896544" y="3201403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Key 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-190500"/>
            <a:ext cx="11048555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Business 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031" y="4072322"/>
            <a:ext cx="17943938" cy="3700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🟠Monitor Workforce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🟠Analyze Employee Attrition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🟠Evaluate Salary Trends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🟠Measure Job Satisfaction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🟠Track Employee Experience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🟠Support HR Decision Making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2031" y="7973290"/>
            <a:ext cx="6364038" cy="863446"/>
            <a:chOff x="0" y="0"/>
            <a:chExt cx="1676125" cy="2274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6125" cy="227410"/>
            </a:xfrm>
            <a:custGeom>
              <a:avLst/>
              <a:gdLst/>
              <a:ahLst/>
              <a:cxnLst/>
              <a:rect l="l" t="t" r="r" b="b"/>
              <a:pathLst>
                <a:path w="1676125" h="227410">
                  <a:moveTo>
                    <a:pt x="0" y="0"/>
                  </a:moveTo>
                  <a:lnTo>
                    <a:pt x="1676125" y="0"/>
                  </a:lnTo>
                  <a:lnTo>
                    <a:pt x="1676125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76125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-395806" y="8156317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Expected Business Outcomes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8105" y="9027236"/>
            <a:ext cx="17851791" cy="1024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345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⚫Improve employee retention, ⚫Enable faster HR reporting, ⚫Identify workforce trends, ⚫Support strategic planning</a:t>
            </a:r>
          </a:p>
          <a:p>
            <a:pPr algn="l">
              <a:lnSpc>
                <a:spcPts val="2673"/>
              </a:lnSpc>
            </a:pPr>
            <a:endParaRPr lang="en-US" sz="2345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73"/>
              </a:lnSpc>
            </a:pPr>
            <a:r>
              <a:rPr lang="en-US" sz="2345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⚫Enhance business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0942" y="1683763"/>
            <a:ext cx="4328750" cy="863446"/>
            <a:chOff x="0" y="0"/>
            <a:chExt cx="1140082" cy="227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0082" cy="227410"/>
            </a:xfrm>
            <a:custGeom>
              <a:avLst/>
              <a:gdLst/>
              <a:ahLst/>
              <a:cxnLst/>
              <a:rect l="l" t="t" r="r" b="b"/>
              <a:pathLst>
                <a:path w="1140082" h="227410">
                  <a:moveTo>
                    <a:pt x="0" y="0"/>
                  </a:moveTo>
                  <a:lnTo>
                    <a:pt x="1140082" y="0"/>
                  </a:lnTo>
                  <a:lnTo>
                    <a:pt x="1140082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40082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1354538" y="1866790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Dataset Information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0942" y="-190500"/>
            <a:ext cx="11048555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Dataset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2775809"/>
            <a:ext cx="19395047" cy="335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548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Name:  </a:t>
            </a:r>
            <a:r>
              <a:rPr lang="en-US" sz="254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IBM HR Analytics Employee Attrition &amp; Performance</a:t>
            </a:r>
          </a:p>
          <a:p>
            <a:pPr algn="l">
              <a:lnSpc>
                <a:spcPts val="2904"/>
              </a:lnSpc>
            </a:pPr>
            <a:endParaRPr lang="en-US" sz="254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04"/>
              </a:lnSpc>
            </a:pPr>
            <a:r>
              <a:rPr lang="en-US" sz="2548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Source:  </a:t>
            </a:r>
            <a:r>
              <a:rPr lang="en-US" sz="254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IBM HR Analytics Dataset</a:t>
            </a:r>
          </a:p>
          <a:p>
            <a:pPr algn="l">
              <a:lnSpc>
                <a:spcPts val="2904"/>
              </a:lnSpc>
            </a:pPr>
            <a:endParaRPr lang="en-US" sz="254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04"/>
              </a:lnSpc>
            </a:pPr>
            <a:r>
              <a:rPr lang="en-US" sz="2548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Industry: </a:t>
            </a:r>
            <a:r>
              <a:rPr lang="en-US" sz="254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Human Resources</a:t>
            </a:r>
          </a:p>
          <a:p>
            <a:pPr algn="l">
              <a:lnSpc>
                <a:spcPts val="2904"/>
              </a:lnSpc>
            </a:pPr>
            <a:endParaRPr lang="en-US" sz="254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04"/>
              </a:lnSpc>
            </a:pPr>
            <a:r>
              <a:rPr lang="en-US" sz="2548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Total Records: </a:t>
            </a:r>
            <a:r>
              <a:rPr lang="en-US" sz="254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1,470 Employees</a:t>
            </a:r>
          </a:p>
          <a:p>
            <a:pPr algn="l">
              <a:lnSpc>
                <a:spcPts val="2904"/>
              </a:lnSpc>
            </a:pPr>
            <a:endParaRPr lang="en-US" sz="254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04"/>
              </a:lnSpc>
            </a:pPr>
            <a:r>
              <a:rPr lang="en-US" sz="2548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Total Columns:  </a:t>
            </a:r>
            <a:r>
              <a:rPr lang="en-US" sz="254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35 Features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30942" y="6557171"/>
            <a:ext cx="3532333" cy="863446"/>
            <a:chOff x="0" y="0"/>
            <a:chExt cx="930326" cy="2274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0326" cy="227410"/>
            </a:xfrm>
            <a:custGeom>
              <a:avLst/>
              <a:gdLst/>
              <a:ahLst/>
              <a:cxnLst/>
              <a:rect l="l" t="t" r="r" b="b"/>
              <a:pathLst>
                <a:path w="930326" h="227410">
                  <a:moveTo>
                    <a:pt x="0" y="0"/>
                  </a:moveTo>
                  <a:lnTo>
                    <a:pt x="930326" y="0"/>
                  </a:lnTo>
                  <a:lnTo>
                    <a:pt x="930326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30326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-1744492" y="6740198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Data Categories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0942" y="7611117"/>
            <a:ext cx="4105632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⚫Employee Information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0942" y="8266436"/>
            <a:ext cx="2840236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⚫Compensation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0942" y="8997315"/>
            <a:ext cx="256984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⚫Performance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0942" y="9652635"/>
            <a:ext cx="2284690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⚫Job Details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82054" y="7626896"/>
            <a:ext cx="346090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⚫Workforce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0934" y="1335705"/>
            <a:ext cx="3492341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⚫Employee Number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39197" y="316113"/>
            <a:ext cx="5036676" cy="863446"/>
            <a:chOff x="0" y="0"/>
            <a:chExt cx="1326532" cy="2274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26532" cy="227410"/>
            </a:xfrm>
            <a:custGeom>
              <a:avLst/>
              <a:gdLst/>
              <a:ahLst/>
              <a:cxnLst/>
              <a:rect l="l" t="t" r="r" b="b"/>
              <a:pathLst>
                <a:path w="1326532" h="227410">
                  <a:moveTo>
                    <a:pt x="0" y="0"/>
                  </a:moveTo>
                  <a:lnTo>
                    <a:pt x="1326532" y="0"/>
                  </a:lnTo>
                  <a:lnTo>
                    <a:pt x="1326532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26532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1234223" y="521783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Major Columns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4453" y="1952925"/>
            <a:ext cx="104036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2570145"/>
            <a:ext cx="214775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⚫Gender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0942" y="3187364"/>
            <a:ext cx="244244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⚫Department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0942" y="3804584"/>
            <a:ext cx="1864281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⚫Job Role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0934" y="4454052"/>
            <a:ext cx="312229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⚫Monthly Income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212" y="5071271"/>
            <a:ext cx="327901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⚫Business Travel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1437" y="5657021"/>
            <a:ext cx="216676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⚫Overtime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0342" y="6360244"/>
            <a:ext cx="310288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⚫Job Satisfaction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4453" y="6977464"/>
            <a:ext cx="339613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⚫Years at Company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1437" y="7594683"/>
            <a:ext cx="216676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⚫Attrition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0730" y="3969652"/>
            <a:ext cx="3377474" cy="863446"/>
            <a:chOff x="0" y="0"/>
            <a:chExt cx="889541" cy="227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9541" cy="227410"/>
            </a:xfrm>
            <a:custGeom>
              <a:avLst/>
              <a:gdLst/>
              <a:ahLst/>
              <a:cxnLst/>
              <a:rect l="l" t="t" r="r" b="b"/>
              <a:pathLst>
                <a:path w="889541" h="227410">
                  <a:moveTo>
                    <a:pt x="0" y="0"/>
                  </a:moveTo>
                  <a:lnTo>
                    <a:pt x="889541" y="0"/>
                  </a:lnTo>
                  <a:lnTo>
                    <a:pt x="889541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89541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0942" y="1622135"/>
            <a:ext cx="18322180" cy="173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This project focuses on analyzing workforce data to understand employee attrition, workforce demographics, compensation, experience, and job satisfaction.</a:t>
            </a:r>
          </a:p>
          <a:p>
            <a:pPr algn="l">
              <a:lnSpc>
                <a:spcPts val="2744"/>
              </a:lnSpc>
            </a:pPr>
            <a:endParaRPr lang="en-US" sz="240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The dashboard provides an executive-level overview using interactive visualizations and dynamic filtering to support HR managers and business leaders.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726756" y="4152679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Scope Includes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-190500"/>
            <a:ext cx="11048555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Project Scope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0942" y="5023598"/>
            <a:ext cx="17943938" cy="3700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🟢Data Cleaning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🟢Power Query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🟢Pivot Tables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🟢Pivot Charts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🟢Interactive Dashboard 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🟢Business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0942" y="319408"/>
            <a:ext cx="4240259" cy="863446"/>
            <a:chOff x="0" y="0"/>
            <a:chExt cx="1116776" cy="227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16776" cy="227410"/>
            </a:xfrm>
            <a:custGeom>
              <a:avLst/>
              <a:gdLst/>
              <a:ahLst/>
              <a:cxnLst/>
              <a:rect l="l" t="t" r="r" b="b"/>
              <a:pathLst>
                <a:path w="1116776" h="227410">
                  <a:moveTo>
                    <a:pt x="0" y="0"/>
                  </a:moveTo>
                  <a:lnTo>
                    <a:pt x="1116776" y="0"/>
                  </a:lnTo>
                  <a:lnTo>
                    <a:pt x="1116776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16776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1431968" y="521783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Project Deliverables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031" y="1442557"/>
            <a:ext cx="17943938" cy="3700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🔵Interactive HR Dashboard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🔵Executive KPI Cards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🔵Department Analysis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🔵Job Role Analysis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🔵Attrition Analysis</a:t>
            </a:r>
          </a:p>
          <a:p>
            <a:pPr algn="l">
              <a:lnSpc>
                <a:spcPts val="2687"/>
              </a:lnSpc>
            </a:pPr>
            <a:endParaRPr lang="en-US" sz="235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87"/>
              </a:lnSpc>
            </a:pPr>
            <a:r>
              <a:rPr lang="en-US" sz="235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🔵Business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0942" y="2542484"/>
            <a:ext cx="4903940" cy="863446"/>
            <a:chOff x="0" y="0"/>
            <a:chExt cx="1291573" cy="227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1573" cy="227410"/>
            </a:xfrm>
            <a:custGeom>
              <a:avLst/>
              <a:gdLst/>
              <a:ahLst/>
              <a:cxnLst/>
              <a:rect l="l" t="t" r="r" b="b"/>
              <a:pathLst>
                <a:path w="1291573" h="227410">
                  <a:moveTo>
                    <a:pt x="0" y="0"/>
                  </a:moveTo>
                  <a:lnTo>
                    <a:pt x="1291573" y="0"/>
                  </a:lnTo>
                  <a:lnTo>
                    <a:pt x="1291573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91573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0942" y="1622135"/>
            <a:ext cx="18322180" cy="70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The raw HR dataset was reviewed and prepared in Microsoft Excel to ensure data consistency, accuracy, and usability before analysis.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066943" y="2725511"/>
            <a:ext cx="7499711" cy="50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sz="3459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Data Preparation Steps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-190500"/>
            <a:ext cx="15561584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Data Cleaning &amp; Preparation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0942" y="3605955"/>
            <a:ext cx="3367240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01 — Data Inspection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0942" y="4135308"/>
            <a:ext cx="18322180" cy="3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Reviewed columns, data types, and overall dataset structure.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0942" y="4850044"/>
            <a:ext cx="396455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02 — Data Quality Check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0942" y="5382737"/>
            <a:ext cx="18322180" cy="3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Checked for missing values, duplicates, and inconsistent entries.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0942" y="5966260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03 — Data Transformation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0942" y="6537053"/>
            <a:ext cx="18322180" cy="3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Prepared fields and standardized data for analysis.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0942" y="7248810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04 — Feature Validation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0942" y="7810078"/>
            <a:ext cx="18322180" cy="3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Validated key HR metrics such as Attrition, Income, Age, and Years at Company.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0942" y="8550410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05 — Analysis Ready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0942" y="9111678"/>
            <a:ext cx="18322180" cy="3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Prepared the final dataset for Pivot Tables and dashboard reporting.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45763" y="9699610"/>
            <a:ext cx="18322180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Raw HR Data  →  Clean Data  →  Analysis-Ready Dataset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942" y="-190500"/>
            <a:ext cx="15561584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Analytics Workflow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44494" y="1735716"/>
            <a:ext cx="3367240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RAW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36941" y="2096958"/>
            <a:ext cx="18322180" cy="3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IBM HR employee dataset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45837" y="3124792"/>
            <a:ext cx="396455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PROFILING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16610" y="3514568"/>
            <a:ext cx="18322180" cy="3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Reviewed structure and data quality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21344" y="4461310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16610" y="4930935"/>
            <a:ext cx="18322180" cy="3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Prepared consistent analytical fields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44494" y="5832485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POWER 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16610" y="6269927"/>
            <a:ext cx="18322180" cy="3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Data transformation and preparation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44494" y="7047652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PIVOT TABLES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16610" y="8659629"/>
            <a:ext cx="18322180" cy="1050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Visualized workforce trends</a:t>
            </a:r>
          </a:p>
          <a:p>
            <a:pPr algn="l">
              <a:lnSpc>
                <a:spcPts val="2744"/>
              </a:lnSpc>
            </a:pPr>
            <a:endParaRPr lang="en-US" sz="240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44"/>
              </a:lnSpc>
            </a:pPr>
            <a:endParaRPr lang="en-US" sz="240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131193" y="2611149"/>
            <a:ext cx="3367240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31193" y="3947668"/>
            <a:ext cx="3367240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73068" y="5366467"/>
            <a:ext cx="3367240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↓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73068" y="6657835"/>
            <a:ext cx="3367240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36941" y="7473036"/>
            <a:ext cx="18322180" cy="3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Aggregated HR metrics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73068" y="7908569"/>
            <a:ext cx="3367240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↓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44494" y="8298386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PIVOT CHARTS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41139" y="9326379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KPI CARDS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3068" y="9068154"/>
            <a:ext cx="3367240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06444" y="9687621"/>
            <a:ext cx="18322180" cy="3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Summarized executive metrics</a:t>
            </a:r>
          </a:p>
        </p:txBody>
      </p:sp>
      <p:sp>
        <p:nvSpPr>
          <p:cNvPr id="23" name="TextBox 23"/>
          <p:cNvSpPr txBox="1"/>
          <p:nvPr/>
        </p:nvSpPr>
        <p:spPr>
          <a:xfrm rot="-5400000">
            <a:off x="7032548" y="7701488"/>
            <a:ext cx="3367240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↓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44000" y="9250179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10390" y="9639996"/>
            <a:ext cx="18322180" cy="3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Interactive HR decision-support tool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942" y="-190500"/>
            <a:ext cx="15561584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Dashboard Development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5188" y="1482177"/>
            <a:ext cx="3367240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01 — KPI Layer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0942" y="1900569"/>
            <a:ext cx="18322180" cy="2073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🔵Total Employees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🔵Attrition Count 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🔵Attrition Rate 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🔵Average Age 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🔵Average Monthly Income 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🔵Average Years at Company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942" y="4107094"/>
            <a:ext cx="396455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02 — Analysis Layer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0942" y="4525487"/>
            <a:ext cx="18322180" cy="309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🔵Department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🔵Gender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🔵Job Role 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🔵Salary 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🔵Experience 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🔵Job Satisfaction 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🔵Overtime</a:t>
            </a:r>
          </a:p>
          <a:p>
            <a:pPr algn="l">
              <a:lnSpc>
                <a:spcPts val="2744"/>
              </a:lnSpc>
            </a:pPr>
            <a:endParaRPr lang="en-US" sz="240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44"/>
              </a:lnSpc>
            </a:pPr>
            <a:endParaRPr lang="en-US" sz="240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75188" y="7067835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03 — Interaction Layer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0942" y="7486228"/>
            <a:ext cx="18322180" cy="275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🔵Department Slicer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🔵Gender Slicer 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🔵Job Role Slicer 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🔵Education Field 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🔵Business Travel </a:t>
            </a:r>
          </a:p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🔵Attrition</a:t>
            </a:r>
          </a:p>
          <a:p>
            <a:pPr algn="l">
              <a:lnSpc>
                <a:spcPts val="2744"/>
              </a:lnSpc>
            </a:pPr>
            <a:endParaRPr lang="en-US" sz="240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44"/>
              </a:lnSpc>
            </a:pPr>
            <a:endParaRPr lang="en-US" sz="240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31436" y="8345167"/>
            <a:ext cx="18322180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Clean </a:t>
            </a: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</a:t>
            </a: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</a:t>
            </a: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Driven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21226" y="8992708"/>
            <a:ext cx="21019332" cy="82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761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The dashboard was designed to provide management with a quick,</a:t>
            </a:r>
          </a:p>
          <a:p>
            <a:pPr algn="l">
              <a:lnSpc>
                <a:spcPts val="3148"/>
              </a:lnSpc>
            </a:pPr>
            <a:r>
              <a:rPr lang="en-US" sz="2761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interactive view of workforce performance and employee attrition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22106" y="1661847"/>
            <a:ext cx="14443788" cy="7179766"/>
          </a:xfrm>
          <a:custGeom>
            <a:avLst/>
            <a:gdLst/>
            <a:ahLst/>
            <a:cxnLst/>
            <a:rect l="l" t="t" r="r" b="b"/>
            <a:pathLst>
              <a:path w="14443788" h="7179766">
                <a:moveTo>
                  <a:pt x="0" y="0"/>
                </a:moveTo>
                <a:lnTo>
                  <a:pt x="14443788" y="0"/>
                </a:lnTo>
                <a:lnTo>
                  <a:pt x="14443788" y="7179766"/>
                </a:lnTo>
                <a:lnTo>
                  <a:pt x="0" y="7179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05420" y="-61349"/>
            <a:ext cx="18347702" cy="155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62"/>
              </a:lnSpc>
            </a:pPr>
            <a:r>
              <a:rPr lang="en-US" sz="9044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Executive HR Analytics Dashboard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45096" y="9248775"/>
            <a:ext cx="20253904" cy="78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66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An interactive Excel dashboard designed to monitor workforce,</a:t>
            </a:r>
          </a:p>
          <a:p>
            <a:pPr algn="l">
              <a:lnSpc>
                <a:spcPts val="3033"/>
              </a:lnSpc>
            </a:pPr>
            <a:r>
              <a:rPr lang="en-US" sz="266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attrition, compensation, experience, and employee satisfaction.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942" y="1622135"/>
            <a:ext cx="18322180" cy="3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What the data reveals about workforce and employee attrition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0942" y="-190500"/>
            <a:ext cx="15561584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Key Business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0942" y="2240541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1 — Workforce Distribution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93390" y="2858958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Research &amp; Development represents the largest employee population,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followed by Sales and Human Resources.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0942" y="4953354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2 — Employee Attrition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7781856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3 — Overtime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0942" y="2858958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100EF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0942" y="3853537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Impact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96170" y="3853537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RRetention and workforce planning should prioritize larger employee groups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while maintaining adequate staffing across critical functions.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0942" y="5571771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100EF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36072" y="5571771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Employee attrition is concentrated within specific departments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and job roles rather than being evenly distributed across the workforce.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0942" y="6658968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Impact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96170" y="6692028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HR can focus targeted retention strategies on high-attrition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departments and roles instead of applying one approach to all employees.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0942" y="8343124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100EF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36072" y="8335665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Employees working overtime show a stronger association with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employee attrition than employees who do not work overtime.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0942" y="9338367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Impact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96170" y="9338367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Monitoring workload and overtime can help reduce employee burnout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and improve workforce retention.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942" y="392691"/>
            <a:ext cx="5822859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4 — Early-Career Employees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36072" y="1116591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Employees with relatively short tenure represent an important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segment for attrition monitoring.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0942" y="3532262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5 — Job Satisfaction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942" y="7781856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3 — Overtime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0942" y="1116591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100EF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2301670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Impact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96170" y="2310950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Stronger onboarding, mentoring, and career-development programs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can improve early-stage employee retention.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0942" y="4129441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100EF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35177" y="4129441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Employee satisfaction varies across workforce segments,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creating opportunities for targeted engagement initiatives.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0942" y="5228795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Impact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96170" y="5228795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Regular employee feedback and satisfaction monitoring can help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identify potential retention risks earlier.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0942" y="8343124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100EF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6072" y="8335665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Employees working overtime show a stronger association with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employee attrition than employees who do not work overtime.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0942" y="9338367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Impact</a:t>
            </a: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96170" y="9338367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Monitoring workload and overtime can help reduce employee burnout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and improve workforce retention.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942" y="-190500"/>
            <a:ext cx="15561584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Priority Areas for HR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0942" y="1735716"/>
            <a:ext cx="5424651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🔴 Priority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0942" y="2280574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Employee Attrition Identify high-risk departments and job roles.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942" y="3139870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🟠 Priority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0942" y="4571646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🔵 Priority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3717037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Overtime &amp; Workload Monitor excessive overtime and workload pressure.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0942" y="5133975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Employee Experience Track job satisfaction and engagement indicators.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0942" y="6618956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Career Development Strengthen growth opportunities for employees with shorter tenure.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0942" y="6038639"/>
            <a:ext cx="507068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🟢 Priority 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48038" y="8949940"/>
            <a:ext cx="20020334" cy="76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63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Data-driven workforce monitoring can help HR move from</a:t>
            </a:r>
          </a:p>
          <a:p>
            <a:pPr algn="l">
              <a:lnSpc>
                <a:spcPts val="2998"/>
              </a:lnSpc>
            </a:pPr>
            <a:r>
              <a:rPr lang="en-US" sz="263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reactive reporting to proactive employee-retention strategies.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942" y="-190500"/>
            <a:ext cx="17685362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Management Recommendations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0942" y="2506929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🔴 Recommendation 01 — Strengthen Retention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03445" y="3078688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Attrition is concentrated within specific employee groups.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942" y="5629859"/>
            <a:ext cx="7305079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🟠 Recommendation 02 — Manage Overtime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0942" y="1649452"/>
            <a:ext cx="20020334" cy="39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63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Turning workforce insights into actionable HR strategies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3087246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100EF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0942" y="3730141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92924" y="3730141"/>
            <a:ext cx="1493416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Develop targeted retention programs for high-attrition departments and job roles.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0942" y="4394250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4CA626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Impact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92924" y="4394250"/>
            <a:ext cx="1493416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Lower avoidable employee turnover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0942" y="6267327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100EF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0942" y="7131460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0942" y="7986069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4CA626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Impact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5845" y="6276852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Overtime is associated with higher employee attrition.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92924" y="7131460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Monitor overtime patterns and rebalance workloads where sustained overtime is observed.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92924" y="8014644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Reduced burnout and improved retention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0942" y="8869253"/>
            <a:ext cx="8278478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🔵 Recommendation 03 — Improve Career Growth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0942" y="9535296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100EF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55845" y="9506721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Employees with shorter tenure require closer retention attention.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942" y="2599050"/>
            <a:ext cx="9119140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🟢 Recommendation 04 — Monitor Employee Experience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0942" y="349474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53838" y="349474"/>
            <a:ext cx="1493416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Strengthen onboarding, mentoring, training, and career-development opportunities.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942" y="1127883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4CA626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Impact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0942" y="3379393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100EF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4190617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0942" y="5016651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4CA626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Impact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0704" y="3379393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Job satisfaction varies across workforce segments.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53838" y="4190617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Introduce regular employee feedback and satisfaction monitoring programs.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53838" y="1119324"/>
            <a:ext cx="1493416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Higher employee engagement and longer tenure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53838" y="4959501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Earlier identification of retention risks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942" y="-190500"/>
            <a:ext cx="17685362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HR Action Framework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0942" y="2441221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01 — </a:t>
            </a:r>
            <a:r>
              <a:rPr lang="en-US" sz="2407" b="1">
                <a:solidFill>
                  <a:srgbClr val="2100EF"/>
                </a:solidFill>
                <a:latin typeface="Poppins Bold"/>
                <a:ea typeface="Poppins Bold"/>
                <a:cs typeface="Poppins Bold"/>
                <a:sym typeface="Poppins Bold"/>
              </a:rPr>
              <a:t>Identify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0942" y="2897600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Use workforce data to identify high-risk employee segments.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942" y="3905834"/>
            <a:ext cx="7305079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02 — </a:t>
            </a:r>
            <a:r>
              <a:rPr lang="en-US" sz="2407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Intervene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0942" y="1649452"/>
            <a:ext cx="20020334" cy="39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63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Turning workforce insights into actionable HR strategies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2169" y="3371209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39857" y="3905834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Apply targeted retention, engagement, and workload strategies.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2169" y="4436593"/>
            <a:ext cx="7305079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↓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39857" y="4893085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Track attrition and workforce KPIs to measure improvement over time.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0942" y="4893085"/>
            <a:ext cx="7305079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03 </a:t>
            </a:r>
            <a:r>
              <a:rPr lang="en-US" sz="2407" b="1">
                <a:solidFill>
                  <a:srgbClr val="4CA626"/>
                </a:solidFill>
                <a:latin typeface="Poppins Bold"/>
                <a:ea typeface="Poppins Bold"/>
                <a:cs typeface="Poppins Bold"/>
                <a:sym typeface="Poppins Bold"/>
              </a:rPr>
              <a:t>— Monitor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05621" y="8128944"/>
            <a:ext cx="9646166" cy="486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3"/>
              </a:lnSpc>
            </a:pPr>
            <a:r>
              <a:rPr lang="en-US" sz="3178" b="1">
                <a:solidFill>
                  <a:srgbClr val="2100EF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  <a:r>
              <a:rPr lang="en-US" sz="3178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  <a:r>
              <a:rPr lang="en-US" sz="3178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Action </a:t>
            </a:r>
            <a:r>
              <a:rPr lang="en-US" sz="3178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  <a:r>
              <a:rPr lang="en-US" sz="3178" b="1">
                <a:solidFill>
                  <a:srgbClr val="4CA626"/>
                </a:solidFill>
                <a:latin typeface="Poppins Bold"/>
                <a:ea typeface="Poppins Bold"/>
                <a:cs typeface="Poppins Bold"/>
                <a:sym typeface="Poppins Bold"/>
              </a:rPr>
              <a:t>Measurement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83482" y="8843027"/>
            <a:ext cx="11825251" cy="811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723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 continuous analytics-driven approach can help HR teams move from reactive reporting to proactive workforce management.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942" y="-190500"/>
            <a:ext cx="17685362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Expected Business Impact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0942" y="1979283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👥 Workforce Planning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0942" y="2474842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Better visibility into workforce composition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942" y="3962984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More targeted employee-retention strategies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0942" y="3405650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📉 Attrition Management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4953354"/>
            <a:ext cx="7747533" cy="713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💼 Employee Experience</a:t>
            </a:r>
          </a:p>
          <a:p>
            <a:pPr algn="l">
              <a:lnSpc>
                <a:spcPts val="2744"/>
              </a:lnSpc>
            </a:pPr>
            <a:endParaRPr lang="en-US" sz="2407" b="1">
              <a:solidFill>
                <a:srgbClr val="222222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30942" y="5468317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Improved understanding of workforce engagement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0942" y="6635739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📊 Decision Support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0942" y="7197006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Faster and more data-driven HR decisions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942" y="-190500"/>
            <a:ext cx="17685362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Technical Skills Demonstrated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0942" y="2441221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01 — Microsoft Excel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0942" y="2897600"/>
            <a:ext cx="19292332" cy="1105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Advanced Excel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Data Analysis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Dashboard Development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942" y="1649452"/>
            <a:ext cx="20020334" cy="39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63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Technical Skills Demonstrated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2169" y="3371209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4375049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02 — Power Query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0942" y="4955367"/>
            <a:ext cx="19292332" cy="1105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Data Cleaning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Transformation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Preparation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0942" y="6270891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03 — Pivot Tables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0942" y="6727383"/>
            <a:ext cx="19292332" cy="1105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Data Aggregation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KPI Calculation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Workforce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0942" y="8042907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04 — Pivot Charts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0942" y="8499400"/>
            <a:ext cx="19292332" cy="1105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Data Visualization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Trend Analysis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Comparison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942" y="341125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05 — Slicers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0942" y="842193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Interactive Filtering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Dynamic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0942" y="2287496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06 — KPI Design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942" y="2791614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Executive Metrics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Performance Monitoring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0942" y="4233868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07 — Dashboard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4737985"/>
            <a:ext cx="19292332" cy="7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Executive Layout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Visual Storytelling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0942" y="6180239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08 — Business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0942" y="6684357"/>
            <a:ext cx="19292332" cy="1105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Insights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Recommendations</a:t>
            </a:r>
          </a:p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Decision Support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942" y="-190500"/>
            <a:ext cx="17685362" cy="162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3"/>
              </a:lnSpc>
            </a:pPr>
            <a:r>
              <a:rPr lang="en-US" sz="9437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End-to-End Analytics Workflow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0942" y="2441221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01 —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0942" y="2897600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IBM HR Analytics Dataset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942" y="1649452"/>
            <a:ext cx="20020334" cy="39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63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From raw employee data to actionable HR insights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2169" y="3371209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942" y="3844818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02 — Clean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0942" y="4301311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Data quality checks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0942" y="5057854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03 — Transform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0942" y="5514347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Power Query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0942" y="6271065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04 — Analyze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0942" y="6727557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Pivot Tables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69" y="4679670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169" y="5892706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169" y="7105916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0942" y="7484275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05 — Visualize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0942" y="7940768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Pivot Charts + KPIs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2169" y="8319126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0942" y="8697485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06 — Insight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0942" y="9153978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Attrition &amp; Workforce Analysis</a:t>
            </a:r>
          </a:p>
        </p:txBody>
      </p:sp>
      <p:sp>
        <p:nvSpPr>
          <p:cNvPr id="21" name="TextBox 21"/>
          <p:cNvSpPr txBox="1"/>
          <p:nvPr/>
        </p:nvSpPr>
        <p:spPr>
          <a:xfrm rot="-5400000">
            <a:off x="5324024" y="8323888"/>
            <a:ext cx="739601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03342" y="8555931"/>
            <a:ext cx="7747533" cy="37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07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07 — Action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03342" y="9059596"/>
            <a:ext cx="19292332" cy="38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5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HR Recommendations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448122"/>
            <a:ext cx="3532545" cy="863446"/>
            <a:chOff x="0" y="0"/>
            <a:chExt cx="930382" cy="227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0382" cy="227410"/>
            </a:xfrm>
            <a:custGeom>
              <a:avLst/>
              <a:gdLst/>
              <a:ahLst/>
              <a:cxnLst/>
              <a:rect l="l" t="t" r="r" b="b"/>
              <a:pathLst>
                <a:path w="930382" h="227410">
                  <a:moveTo>
                    <a:pt x="0" y="0"/>
                  </a:moveTo>
                  <a:lnTo>
                    <a:pt x="930382" y="0"/>
                  </a:lnTo>
                  <a:lnTo>
                    <a:pt x="930382" y="227410"/>
                  </a:lnTo>
                  <a:lnTo>
                    <a:pt x="0" y="227410"/>
                  </a:lnTo>
                  <a:close/>
                </a:path>
              </a:pathLst>
            </a:custGeom>
            <a:gradFill rotWithShape="1">
              <a:gsLst>
                <a:gs pos="0">
                  <a:srgbClr val="1800AD">
                    <a:alpha val="100000"/>
                  </a:srgbClr>
                </a:gs>
                <a:gs pos="100000">
                  <a:srgbClr val="0D006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30382" cy="265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691831"/>
            <a:ext cx="2139431" cy="1414673"/>
          </a:xfrm>
          <a:custGeom>
            <a:avLst/>
            <a:gdLst/>
            <a:ahLst/>
            <a:cxnLst/>
            <a:rect l="l" t="t" r="r" b="b"/>
            <a:pathLst>
              <a:path w="2139431" h="1414673">
                <a:moveTo>
                  <a:pt x="0" y="0"/>
                </a:moveTo>
                <a:lnTo>
                  <a:pt x="2139431" y="0"/>
                </a:lnTo>
                <a:lnTo>
                  <a:pt x="2139431" y="1414673"/>
                </a:lnTo>
                <a:lnTo>
                  <a:pt x="0" y="1414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013486" y="7920952"/>
            <a:ext cx="450647" cy="450647"/>
          </a:xfrm>
          <a:custGeom>
            <a:avLst/>
            <a:gdLst/>
            <a:ahLst/>
            <a:cxnLst/>
            <a:rect l="l" t="t" r="r" b="b"/>
            <a:pathLst>
              <a:path w="450647" h="450647">
                <a:moveTo>
                  <a:pt x="0" y="0"/>
                </a:moveTo>
                <a:lnTo>
                  <a:pt x="450647" y="0"/>
                </a:lnTo>
                <a:lnTo>
                  <a:pt x="450647" y="450646"/>
                </a:lnTo>
                <a:lnTo>
                  <a:pt x="0" y="450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927412" y="8533523"/>
            <a:ext cx="622794" cy="622794"/>
          </a:xfrm>
          <a:custGeom>
            <a:avLst/>
            <a:gdLst/>
            <a:ahLst/>
            <a:cxnLst/>
            <a:rect l="l" t="t" r="r" b="b"/>
            <a:pathLst>
              <a:path w="622794" h="622794">
                <a:moveTo>
                  <a:pt x="0" y="0"/>
                </a:moveTo>
                <a:lnTo>
                  <a:pt x="622794" y="0"/>
                </a:lnTo>
                <a:lnTo>
                  <a:pt x="622794" y="622794"/>
                </a:lnTo>
                <a:lnTo>
                  <a:pt x="0" y="622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069716" y="9423017"/>
            <a:ext cx="446494" cy="446494"/>
          </a:xfrm>
          <a:custGeom>
            <a:avLst/>
            <a:gdLst/>
            <a:ahLst/>
            <a:cxnLst/>
            <a:rect l="l" t="t" r="r" b="b"/>
            <a:pathLst>
              <a:path w="446494" h="446494">
                <a:moveTo>
                  <a:pt x="0" y="0"/>
                </a:moveTo>
                <a:lnTo>
                  <a:pt x="446493" y="0"/>
                </a:lnTo>
                <a:lnTo>
                  <a:pt x="446493" y="446494"/>
                </a:lnTo>
                <a:lnTo>
                  <a:pt x="0" y="4464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5370917" y="5762749"/>
            <a:ext cx="2158203" cy="2158203"/>
          </a:xfrm>
          <a:custGeom>
            <a:avLst/>
            <a:gdLst/>
            <a:ahLst/>
            <a:cxnLst/>
            <a:rect l="l" t="t" r="r" b="b"/>
            <a:pathLst>
              <a:path w="2158203" h="2158203">
                <a:moveTo>
                  <a:pt x="0" y="0"/>
                </a:moveTo>
                <a:lnTo>
                  <a:pt x="2158203" y="0"/>
                </a:lnTo>
                <a:lnTo>
                  <a:pt x="2158203" y="2158203"/>
                </a:lnTo>
                <a:lnTo>
                  <a:pt x="0" y="21582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5548052" y="7856674"/>
            <a:ext cx="622794" cy="622794"/>
          </a:xfrm>
          <a:custGeom>
            <a:avLst/>
            <a:gdLst/>
            <a:ahLst/>
            <a:cxnLst/>
            <a:rect l="l" t="t" r="r" b="b"/>
            <a:pathLst>
              <a:path w="622794" h="622794">
                <a:moveTo>
                  <a:pt x="0" y="0"/>
                </a:moveTo>
                <a:lnTo>
                  <a:pt x="622794" y="0"/>
                </a:lnTo>
                <a:lnTo>
                  <a:pt x="622794" y="622794"/>
                </a:lnTo>
                <a:lnTo>
                  <a:pt x="0" y="622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2362231" y="5888201"/>
            <a:ext cx="2080053" cy="2080053"/>
          </a:xfrm>
          <a:custGeom>
            <a:avLst/>
            <a:gdLst/>
            <a:ahLst/>
            <a:cxnLst/>
            <a:rect l="l" t="t" r="r" b="b"/>
            <a:pathLst>
              <a:path w="2080053" h="2080053">
                <a:moveTo>
                  <a:pt x="0" y="0"/>
                </a:moveTo>
                <a:lnTo>
                  <a:pt x="2080053" y="0"/>
                </a:lnTo>
                <a:lnTo>
                  <a:pt x="2080053" y="2080052"/>
                </a:lnTo>
                <a:lnTo>
                  <a:pt x="0" y="20800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028700" y="3574786"/>
            <a:ext cx="6395501" cy="2709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07"/>
              </a:lnSpc>
            </a:pPr>
            <a:r>
              <a:rPr lang="en-US" sz="15790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8526" y="1085850"/>
            <a:ext cx="3463987" cy="65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2675">
                <a:solidFill>
                  <a:srgbClr val="222222"/>
                </a:solidFill>
                <a:latin typeface="Mardoto"/>
                <a:ea typeface="Mardoto"/>
                <a:cs typeface="Mardoto"/>
                <a:sym typeface="Mardoto"/>
              </a:rPr>
              <a:t>International Business Machines Corporation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4133" y="8021693"/>
            <a:ext cx="4929515" cy="34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2675">
                <a:solidFill>
                  <a:srgbClr val="222222"/>
                </a:solidFill>
                <a:latin typeface="Mardoto"/>
                <a:ea typeface="Mardoto"/>
                <a:cs typeface="Mardoto"/>
                <a:sym typeface="Mardoto"/>
              </a:rPr>
              <a:t>mdavesh.analytics@gmail.com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954104"/>
            <a:ext cx="6395501" cy="2709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07"/>
              </a:lnSpc>
            </a:pPr>
            <a:r>
              <a:rPr lang="en-US" sz="15790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Thank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1055" y="6567664"/>
            <a:ext cx="3027835" cy="64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9"/>
              </a:lnSpc>
            </a:pPr>
            <a:r>
              <a:rPr lang="en-US" sz="4437" b="1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Contact 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50206" y="8700398"/>
            <a:ext cx="4929515" cy="346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2675" b="1">
                <a:solidFill>
                  <a:srgbClr val="222222"/>
                </a:solidFill>
                <a:latin typeface="Mardoto Bold"/>
                <a:ea typeface="Mardoto Bold"/>
                <a:cs typeface="Mardoto Bold"/>
                <a:sym typeface="Mardoto Bold"/>
              </a:rPr>
              <a:t>Linkedin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76630" y="8695448"/>
            <a:ext cx="4929515" cy="34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2675" u="sng">
                <a:solidFill>
                  <a:srgbClr val="222222"/>
                </a:solidFill>
                <a:latin typeface="Mardoto"/>
                <a:ea typeface="Mardoto"/>
                <a:cs typeface="Mardoto"/>
                <a:sym typeface="Mardoto"/>
                <a:hlinkClick r:id="rId8" tooltip="https://www.linkedin.com/in/md-avesh-9bb519378?utm_source=share_via&amp;utm_content=profile&amp;utm_medium=member_android"/>
              </a:rPr>
              <a:t>Click Here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50206" y="9480167"/>
            <a:ext cx="4929515" cy="346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2675" b="1">
                <a:solidFill>
                  <a:srgbClr val="222222"/>
                </a:solidFill>
                <a:latin typeface="Mardoto Bold"/>
                <a:ea typeface="Mardoto Bold"/>
                <a:cs typeface="Mardoto Bold"/>
                <a:sym typeface="Mardoto Bold"/>
              </a:rPr>
              <a:t>GitHub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56299" y="9379968"/>
            <a:ext cx="4929515" cy="34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2675" u="sng">
                <a:solidFill>
                  <a:srgbClr val="222222"/>
                </a:solidFill>
                <a:latin typeface="Mardoto"/>
                <a:ea typeface="Mardoto"/>
                <a:cs typeface="Mardoto"/>
                <a:sym typeface="Mardoto"/>
                <a:hlinkClick r:id="rId9" tooltip="https://github.com/md-avesh"/>
              </a:rPr>
              <a:t>Click Here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170846" y="8025403"/>
            <a:ext cx="4929515" cy="346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2675" b="1">
                <a:solidFill>
                  <a:srgbClr val="222222"/>
                </a:solidFill>
                <a:latin typeface="Mardoto Bold"/>
                <a:ea typeface="Mardoto Bold"/>
                <a:cs typeface="Mardoto Bold"/>
                <a:sym typeface="Mardoto Bold"/>
              </a:rPr>
              <a:t>Linkedin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225749" y="8068552"/>
            <a:ext cx="4929515" cy="346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2675" b="1">
                <a:solidFill>
                  <a:srgbClr val="222222"/>
                </a:solidFill>
                <a:latin typeface="Mardoto Bold"/>
                <a:ea typeface="Mardoto Bold"/>
                <a:cs typeface="Mardoto Bold"/>
                <a:sym typeface="Mardoto Bold"/>
              </a:rPr>
              <a:t>GitHub</a:t>
            </a:r>
          </a:p>
        </p:txBody>
      </p:sp>
      <p:sp>
        <p:nvSpPr>
          <p:cNvPr id="23" name="Freeform 23"/>
          <p:cNvSpPr/>
          <p:nvPr/>
        </p:nvSpPr>
        <p:spPr>
          <a:xfrm>
            <a:off x="12636801" y="7968253"/>
            <a:ext cx="446494" cy="446494"/>
          </a:xfrm>
          <a:custGeom>
            <a:avLst/>
            <a:gdLst/>
            <a:ahLst/>
            <a:cxnLst/>
            <a:rect l="l" t="t" r="r" b="b"/>
            <a:pathLst>
              <a:path w="446494" h="446494">
                <a:moveTo>
                  <a:pt x="0" y="0"/>
                </a:moveTo>
                <a:lnTo>
                  <a:pt x="446494" y="0"/>
                </a:lnTo>
                <a:lnTo>
                  <a:pt x="446494" y="446494"/>
                </a:lnTo>
                <a:lnTo>
                  <a:pt x="0" y="4464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12498025" y="9332343"/>
            <a:ext cx="5262297" cy="481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2"/>
              </a:lnSpc>
            </a:pPr>
            <a:r>
              <a:rPr lang="en-US" sz="3239" b="1">
                <a:solidFill>
                  <a:srgbClr val="222222"/>
                </a:solidFill>
                <a:latin typeface="Mardoto Bold"/>
                <a:ea typeface="Mardoto Bold"/>
                <a:cs typeface="Mardoto Bold"/>
                <a:sym typeface="Mardoto Bold"/>
              </a:rPr>
              <a:t>Prepared By- </a:t>
            </a:r>
            <a:r>
              <a:rPr lang="en-US" sz="3239" b="1">
                <a:gradFill>
                  <a:gsLst>
                    <a:gs pos="0">
                      <a:srgbClr val="0D0060">
                        <a:alpha val="100000"/>
                      </a:srgbClr>
                    </a:gs>
                    <a:gs pos="100000">
                      <a:srgbClr val="1800AD">
                        <a:alpha val="100000"/>
                      </a:srgbClr>
                    </a:gs>
                  </a:gsLst>
                  <a:lin ang="2700000"/>
                </a:gradFill>
                <a:latin typeface="Mardoto Bold"/>
                <a:ea typeface="Mardoto Bold"/>
                <a:cs typeface="Mardoto Bold"/>
                <a:sym typeface="Mardoto Bold"/>
              </a:rPr>
              <a:t>Md Avesh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1537</Words>
  <Application>Microsoft Office PowerPoint</Application>
  <PresentationFormat>Custom</PresentationFormat>
  <Paragraphs>376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Mardoto Bold</vt:lpstr>
      <vt:lpstr>Arial</vt:lpstr>
      <vt:lpstr>Mardoto</vt:lpstr>
      <vt:lpstr>Calibri</vt:lpstr>
      <vt:lpstr>Poppins Bold</vt:lpstr>
      <vt:lpstr>Canva Sans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Business Machines Corporation</dc:title>
  <cp:lastModifiedBy>Md Avesh</cp:lastModifiedBy>
  <cp:revision>1</cp:revision>
  <dcterms:created xsi:type="dcterms:W3CDTF">2006-08-16T00:00:00Z</dcterms:created>
  <dcterms:modified xsi:type="dcterms:W3CDTF">2026-08-10T14:05:18Z</dcterms:modified>
  <dc:identifier>DAHRn_fEvfo</dc:identifier>
</cp:coreProperties>
</file>